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8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2926080" cy="5033772"/>
          </a:xfrm>
          <a:prstGeom prst="rect">
            <a:avLst/>
          </a:prstGeom>
          <a:solidFill>
            <a:srgbClr val="2D327A"/>
          </a:solidFill>
          <a:ln w="12700">
            <a:solidFill>
              <a:srgbClr val="2D3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📚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हिंदी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व्याकरण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08960" y="100584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व्याकरण ज्ञान पिटारा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108960" y="20116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5A623"/>
                </a:solidFill>
                <a:latin typeface="Samarkan" panose="020B0500000000000000" pitchFamily="34" charset="0"/>
              </a:rPr>
              <a:t>Hindi Grammar Knowledge Box</a:t>
            </a:r>
            <a:endParaRPr lang="en-US" sz="1600" dirty="0">
              <a:latin typeface="Samarkan" panose="020B0500000000000000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08960" y="26517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विषय — </a:t>
            </a:r>
            <a:r>
              <a:rPr lang="en-US" sz="1400" dirty="0">
                <a:solidFill>
                  <a:srgbClr val="FFFFFF"/>
                </a:solidFill>
              </a:rPr>
              <a:t>संज्ञा और उसके भेद  •  काल  •  मुहावरे एवं लोकोक्तियाँ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3383280"/>
            <a:ext cx="53035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08960" y="3566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CADCFC"/>
                </a:solidFill>
              </a:rPr>
              <a:t>कक्षा</a:t>
            </a:r>
            <a:r>
              <a:rPr lang="en-US" sz="1300" dirty="0">
                <a:solidFill>
                  <a:srgbClr val="CADCFC"/>
                </a:solidFill>
              </a:rPr>
              <a:t> 8  |  हिंदी विषय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A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F5E">
              <a:alpha val="85000"/>
            </a:srgbClr>
          </a:solidFill>
          <a:ln w="12700">
            <a:solidFill>
              <a:srgbClr val="1B1F5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/>
                </a:solidFill>
              </a:rPr>
              <a:t>01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संज्ञा और उसके भेद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E5A8"/>
                </a:solidFill>
                <a:latin typeface="Samarkan" panose="020B0500000000000000" pitchFamily="34" charset="0"/>
              </a:rPr>
              <a:t>Noun and its Types</a:t>
            </a:r>
            <a:endParaRPr lang="en-US" sz="1800" dirty="0">
              <a:latin typeface="Samarkan" panose="020B0500000000000000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संज्ञा — परिभाषा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ADAFF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5E"/>
                </a:solidFill>
              </a:rPr>
              <a:t>परिभाषा: </a:t>
            </a:r>
            <a:r>
              <a:rPr lang="en-US" sz="1700" dirty="0">
                <a:solidFill>
                  <a:srgbClr val="1B1F5E"/>
                </a:solidFill>
              </a:rPr>
              <a:t>किसी व्यक्ति, वस्तु, स्थान, गुण, भाव या क्रिया के नाम को </a:t>
            </a:r>
            <a:r>
              <a:rPr lang="en-US" sz="1700" b="1" dirty="0">
                <a:solidFill>
                  <a:srgbClr val="F5A623"/>
                </a:solidFill>
              </a:rPr>
              <a:t>संज्ञा</a:t>
            </a:r>
            <a:r>
              <a:rPr lang="en-US" sz="1700" dirty="0">
                <a:solidFill>
                  <a:srgbClr val="1B1F5E"/>
                </a:solidFill>
              </a:rPr>
              <a:t> कहते हैं।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5E"/>
                </a:solidFill>
              </a:rPr>
              <a:t>उदाहरण: </a:t>
            </a:r>
            <a:r>
              <a:rPr lang="en-US" sz="1500" i="1" dirty="0">
                <a:solidFill>
                  <a:srgbClr val="555577"/>
                </a:solidFill>
              </a:rPr>
              <a:t>राम, दिल्ली, पुस्तक, ईमानदारी, बचपन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063240"/>
            <a:ext cx="1618488" cy="1828800"/>
          </a:xfrm>
          <a:prstGeom prst="roundRect">
            <a:avLst>
              <a:gd name="adj" fmla="val 5650"/>
            </a:avLst>
          </a:prstGeom>
          <a:solidFill>
            <a:srgbClr val="FFE8E8"/>
          </a:solidFill>
          <a:ln w="12700">
            <a:solidFill>
              <a:srgbClr val="FFC0C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5E"/>
                </a:solidFill>
              </a:rPr>
              <a:t>व्यक्तिवाचक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Samarkan" panose="020B0500000000000000" pitchFamily="34" charset="0"/>
              </a:rPr>
              <a:t>Proper Noun</a:t>
            </a:r>
            <a:endParaRPr lang="en-US" sz="1000" dirty="0">
              <a:latin typeface="Samarkan" panose="020B0500000000000000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325880" cy="0"/>
          </a:xfrm>
          <a:prstGeom prst="line">
            <a:avLst/>
          </a:prstGeom>
          <a:noFill/>
          <a:ln w="6350">
            <a:solidFill>
              <a:srgbClr val="FFC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4023360"/>
            <a:ext cx="152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66"/>
                </a:solidFill>
              </a:rPr>
              <a:t>राम, दिल्ली, गंगा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3063240"/>
            <a:ext cx="1618488" cy="1828800"/>
          </a:xfrm>
          <a:prstGeom prst="roundRect">
            <a:avLst>
              <a:gd name="adj" fmla="val 5650"/>
            </a:avLst>
          </a:prstGeom>
          <a:solidFill>
            <a:srgbClr val="E8F4FF"/>
          </a:solidFill>
          <a:ln w="12700">
            <a:solidFill>
              <a:srgbClr val="B0D4FF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75688" y="315468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5E"/>
                </a:solidFill>
              </a:rPr>
              <a:t>जातिवाचक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75688" y="361188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Samarkan" panose="020B0500000000000000" pitchFamily="34" charset="0"/>
              </a:rPr>
              <a:t>Common Noun</a:t>
            </a:r>
            <a:endParaRPr lang="en-US" sz="1000" dirty="0">
              <a:latin typeface="Samarkan" panose="020B0500000000000000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67128" y="3977640"/>
            <a:ext cx="1325880" cy="0"/>
          </a:xfrm>
          <a:prstGeom prst="line">
            <a:avLst/>
          </a:prstGeom>
          <a:noFill/>
          <a:ln w="6350">
            <a:solidFill>
              <a:srgbClr val="B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075688" y="4023360"/>
            <a:ext cx="152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66"/>
                </a:solidFill>
              </a:rPr>
              <a:t>लड़का, नदी, पहाड़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39896" y="3063240"/>
            <a:ext cx="1618488" cy="1828800"/>
          </a:xfrm>
          <a:prstGeom prst="roundRect">
            <a:avLst>
              <a:gd name="adj" fmla="val 5650"/>
            </a:avLst>
          </a:prstGeom>
          <a:solidFill>
            <a:srgbClr val="E8FFE8"/>
          </a:solidFill>
          <a:ln w="12700">
            <a:solidFill>
              <a:srgbClr val="B0FFB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85616" y="315468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5E"/>
                </a:solidFill>
              </a:rPr>
              <a:t>भाववाचक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85616" y="361188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Samarkan" panose="020B0500000000000000" pitchFamily="34" charset="0"/>
              </a:rPr>
              <a:t>Abstract</a:t>
            </a:r>
            <a:r>
              <a:rPr lang="en-US" sz="1000" i="1" dirty="0">
                <a:solidFill>
                  <a:srgbClr val="6B7280"/>
                </a:solidFill>
              </a:rPr>
              <a:t> </a:t>
            </a:r>
            <a:r>
              <a:rPr lang="en-US" sz="1000" i="1" dirty="0">
                <a:solidFill>
                  <a:srgbClr val="6B7280"/>
                </a:solidFill>
                <a:latin typeface="Samarkan" panose="020B0500000000000000" pitchFamily="34" charset="0"/>
              </a:rPr>
              <a:t>Noun</a:t>
            </a:r>
            <a:endParaRPr lang="en-US" sz="1000" dirty="0">
              <a:latin typeface="Samarkan" panose="020B0500000000000000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877056" y="3977640"/>
            <a:ext cx="1325880" cy="0"/>
          </a:xfrm>
          <a:prstGeom prst="line">
            <a:avLst/>
          </a:prstGeom>
          <a:noFill/>
          <a:ln w="6350">
            <a:solidFill>
              <a:srgbClr val="B0F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85616" y="4023360"/>
            <a:ext cx="152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66"/>
                </a:solidFill>
              </a:rPr>
              <a:t>ईमानदारी, प्रेम, खुशी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9824" y="3063240"/>
            <a:ext cx="1618488" cy="1828800"/>
          </a:xfrm>
          <a:prstGeom prst="roundRect">
            <a:avLst>
              <a:gd name="adj" fmla="val 5650"/>
            </a:avLst>
          </a:prstGeom>
          <a:solidFill>
            <a:srgbClr val="FFF0FF"/>
          </a:solidFill>
          <a:ln w="12700">
            <a:solidFill>
              <a:srgbClr val="E0B0FF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95544" y="315468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5E"/>
                </a:solidFill>
              </a:rPr>
              <a:t>समूहवाचक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95544" y="361188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Samarkan" panose="020B0500000000000000" pitchFamily="34" charset="0"/>
              </a:rPr>
              <a:t>Collective Noun</a:t>
            </a:r>
            <a:endParaRPr lang="en-US" sz="1000" dirty="0">
              <a:latin typeface="Samarkan" panose="020B0500000000000000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86984" y="3977640"/>
            <a:ext cx="1325880" cy="0"/>
          </a:xfrm>
          <a:prstGeom prst="line">
            <a:avLst/>
          </a:prstGeom>
          <a:noFill/>
          <a:ln w="6350">
            <a:solidFill>
              <a:srgbClr val="E0B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95544" y="4023360"/>
            <a:ext cx="152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66"/>
                </a:solidFill>
              </a:rPr>
              <a:t>सेना, झुंड, कक्षा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59752" y="3063240"/>
            <a:ext cx="1618488" cy="1828800"/>
          </a:xfrm>
          <a:prstGeom prst="roundRect">
            <a:avLst>
              <a:gd name="adj" fmla="val 5650"/>
            </a:avLst>
          </a:prstGeom>
          <a:solidFill>
            <a:srgbClr val="FFFBE8"/>
          </a:solidFill>
          <a:ln w="12700">
            <a:solidFill>
              <a:srgbClr val="FFE0A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205472" y="315468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5E"/>
                </a:solidFill>
              </a:rPr>
              <a:t>द्रव्यवाचक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05472" y="361188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Samarkan" panose="020B0500000000000000" pitchFamily="34" charset="0"/>
              </a:rPr>
              <a:t>Material Noun</a:t>
            </a:r>
            <a:endParaRPr lang="en-US" sz="1000" dirty="0">
              <a:latin typeface="Samarkan" panose="020B0500000000000000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296912" y="3977640"/>
            <a:ext cx="1325880" cy="0"/>
          </a:xfrm>
          <a:prstGeom prst="line">
            <a:avLst/>
          </a:prstGeom>
          <a:noFill/>
          <a:ln w="6350">
            <a:solidFill>
              <a:srgbClr val="FFE0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205472" y="4023360"/>
            <a:ext cx="152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66"/>
                </a:solidFill>
              </a:rPr>
              <a:t>पानी, सोना, दूध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A40">
              <a:alpha val="70000"/>
            </a:srgbClr>
          </a:solidFill>
          <a:ln w="12700">
            <a:solidFill>
              <a:srgbClr val="013A4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/>
                </a:solidFill>
              </a:rPr>
              <a:t>02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काल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0ECF5"/>
                </a:solidFill>
                <a:latin typeface="Samarkan" panose="020B0500000000000000" pitchFamily="34" charset="0"/>
              </a:rPr>
              <a:t>Tense (Time of Action)</a:t>
            </a:r>
            <a:endParaRPr lang="en-US" sz="1800" dirty="0">
              <a:latin typeface="Samarkan" panose="020B0500000000000000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काल — परिभाषा और भेद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0DCE5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परिभाषा: </a:t>
            </a:r>
            <a:r>
              <a:rPr lang="en-US" sz="1600" dirty="0">
                <a:solidFill>
                  <a:srgbClr val="1B1F5E"/>
                </a:solidFill>
              </a:rPr>
              <a:t>क्रिया के होने के समय को </a:t>
            </a:r>
            <a:r>
              <a:rPr lang="en-US" sz="1600" b="1" dirty="0">
                <a:solidFill>
                  <a:srgbClr val="028090"/>
                </a:solidFill>
              </a:rPr>
              <a:t>काल</a:t>
            </a:r>
            <a:r>
              <a:rPr lang="en-US" sz="1600" dirty="0">
                <a:solidFill>
                  <a:srgbClr val="1B1F5E"/>
                </a:solidFill>
              </a:rPr>
              <a:t> कहते हैं। काल के तीन भेद होते हैं।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2743200" cy="2880360"/>
          </a:xfrm>
          <a:prstGeom prst="roundRect">
            <a:avLst>
              <a:gd name="adj" fmla="val 4000"/>
            </a:avLst>
          </a:prstGeom>
          <a:solidFill>
            <a:srgbClr val="FFE8D6"/>
          </a:solidFill>
          <a:ln w="12700">
            <a:solidFill>
              <a:srgbClr val="FFA57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⏮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5E"/>
                </a:solidFill>
              </a:rPr>
              <a:t>भूतकाल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Samarkan" panose="020B0500000000000000" pitchFamily="34" charset="0"/>
              </a:rPr>
              <a:t>Past Tense</a:t>
            </a:r>
            <a:endParaRPr lang="en-US" sz="1100" dirty="0">
              <a:latin typeface="Samarkan" panose="020B0500000000000000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944368"/>
            <a:ext cx="2377440" cy="0"/>
          </a:xfrm>
          <a:prstGeom prst="line">
            <a:avLst/>
          </a:prstGeom>
          <a:noFill/>
          <a:ln w="8890">
            <a:solidFill>
              <a:srgbClr val="FFA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55"/>
                </a:solidFill>
              </a:rPr>
              <a:t>बीते समय में हुई क्रिया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401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5E"/>
                </a:solidFill>
              </a:rPr>
              <a:t>उदा: </a:t>
            </a:r>
            <a:r>
              <a:rPr lang="en-US" sz="1150" i="1" dirty="0">
                <a:solidFill>
                  <a:srgbClr val="555577"/>
                </a:solidFill>
              </a:rPr>
              <a:t>राम ने खाना खाया।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13048"/>
            <a:ext cx="2377440" cy="0"/>
          </a:xfrm>
          <a:prstGeom prst="line">
            <a:avLst/>
          </a:prstGeom>
          <a:noFill/>
          <a:ln w="6350">
            <a:solidFill>
              <a:srgbClr val="FFA5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8587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5E"/>
                </a:solidFill>
              </a:rPr>
              <a:t>भेद: </a:t>
            </a:r>
            <a:r>
              <a:rPr lang="en-US" sz="1000" dirty="0">
                <a:solidFill>
                  <a:srgbClr val="555577"/>
                </a:solidFill>
              </a:rPr>
              <a:t>सामान्य, आसन्न, पूर्ण, अपूर्ण, संदिग्ध, हेतुहेतुमद्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2057400"/>
            <a:ext cx="2743200" cy="2880360"/>
          </a:xfrm>
          <a:prstGeom prst="roundRect">
            <a:avLst>
              <a:gd name="adj" fmla="val 4000"/>
            </a:avLst>
          </a:prstGeom>
          <a:solidFill>
            <a:srgbClr val="D6FFE8"/>
          </a:solidFill>
          <a:ln w="12700">
            <a:solidFill>
              <a:srgbClr val="50C87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64408" y="21214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▶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13048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5E"/>
                </a:solidFill>
              </a:rPr>
              <a:t>वर्तमान काल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17296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Samarkan" panose="020B0500000000000000" pitchFamily="34" charset="0"/>
              </a:rPr>
              <a:t>Present Tense</a:t>
            </a:r>
            <a:endParaRPr lang="en-US" sz="1100" dirty="0">
              <a:latin typeface="Samarkan" panose="020B0500000000000000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55848" y="2944368"/>
            <a:ext cx="2377440" cy="0"/>
          </a:xfrm>
          <a:prstGeom prst="line">
            <a:avLst/>
          </a:prstGeom>
          <a:noFill/>
          <a:ln w="889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64408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55"/>
                </a:solidFill>
              </a:rPr>
              <a:t>अभी हो रही क्रिया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3401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5E"/>
                </a:solidFill>
              </a:rPr>
              <a:t>उदा: </a:t>
            </a:r>
            <a:r>
              <a:rPr lang="en-US" sz="1150" i="1" dirty="0">
                <a:solidFill>
                  <a:srgbClr val="555577"/>
                </a:solidFill>
              </a:rPr>
              <a:t>राम खाना खाता है।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55848" y="3813048"/>
            <a:ext cx="2377440" cy="0"/>
          </a:xfrm>
          <a:prstGeom prst="line">
            <a:avLst/>
          </a:prstGeom>
          <a:noFill/>
          <a:ln w="635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64408" y="38587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5E"/>
                </a:solidFill>
              </a:rPr>
              <a:t>भेद: </a:t>
            </a:r>
            <a:r>
              <a:rPr lang="en-US" sz="1000" dirty="0">
                <a:solidFill>
                  <a:srgbClr val="555577"/>
                </a:solidFill>
              </a:rPr>
              <a:t>सामान्य, अपूर्ण, पूर्ण, संदिग्ध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25896" y="2057400"/>
            <a:ext cx="2743200" cy="2880360"/>
          </a:xfrm>
          <a:prstGeom prst="roundRect">
            <a:avLst>
              <a:gd name="adj" fmla="val 4000"/>
            </a:avLst>
          </a:prstGeom>
          <a:solidFill>
            <a:srgbClr val="D6E8FF"/>
          </a:solidFill>
          <a:ln w="12700">
            <a:solidFill>
              <a:srgbClr val="5B9BD5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17336" y="21214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⏭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65976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5E"/>
                </a:solidFill>
              </a:rPr>
              <a:t>भविष्य काल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025896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Samarkan" panose="020B0500000000000000" pitchFamily="34" charset="0"/>
              </a:rPr>
              <a:t>Future Tense</a:t>
            </a:r>
            <a:endParaRPr lang="en-US" sz="1100" dirty="0">
              <a:latin typeface="Samarkan" panose="020B0500000000000000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08776" y="2944368"/>
            <a:ext cx="2377440" cy="0"/>
          </a:xfrm>
          <a:prstGeom prst="line">
            <a:avLst/>
          </a:prstGeom>
          <a:noFill/>
          <a:ln w="889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17336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55"/>
                </a:solidFill>
              </a:rPr>
              <a:t>आने वाले समय की क्रिया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17336" y="3401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5E"/>
                </a:solidFill>
              </a:rPr>
              <a:t>उदा: </a:t>
            </a:r>
            <a:r>
              <a:rPr lang="en-US" sz="1150" i="1" dirty="0">
                <a:solidFill>
                  <a:srgbClr val="555577"/>
                </a:solidFill>
              </a:rPr>
              <a:t>राम खाना खाएगा।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08776" y="3813048"/>
            <a:ext cx="2377440" cy="0"/>
          </a:xfrm>
          <a:prstGeom prst="line">
            <a:avLst/>
          </a:prstGeom>
          <a:noFill/>
          <a:ln w="63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17336" y="38587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5E"/>
                </a:solidFill>
              </a:rPr>
              <a:t>भेद: </a:t>
            </a:r>
            <a:r>
              <a:rPr lang="en-US" sz="1000" dirty="0">
                <a:solidFill>
                  <a:srgbClr val="555577"/>
                </a:solidFill>
              </a:rPr>
              <a:t>सामान्य, संभाव्य, हेतुहेतुमद्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A0F25">
              <a:alpha val="60000"/>
            </a:srgbClr>
          </a:solidFill>
          <a:ln w="12700">
            <a:solidFill>
              <a:srgbClr val="3A0F2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/>
                </a:solidFill>
              </a:rPr>
              <a:t>03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मुहावरे एवं लोकोक्तियाँ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CE2D0"/>
                </a:solidFill>
                <a:latin typeface="Samarkan" panose="020B0500000000000000" pitchFamily="34" charset="0"/>
              </a:rPr>
              <a:t>Idioms and Proverbs</a:t>
            </a:r>
            <a:endParaRPr lang="en-US" sz="1800" dirty="0">
              <a:latin typeface="Samarkan" panose="020B0500000000000000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मुहावरे — परिभाषा और उदाहरण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4A0B5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</a:rPr>
              <a:t>परिभाषा: </a:t>
            </a:r>
            <a:r>
              <a:rPr lang="en-US" sz="1500" dirty="0">
                <a:solidFill>
                  <a:srgbClr val="1B1F5E"/>
                </a:solidFill>
              </a:rPr>
              <a:t>ऐसे वाक्यांश जो अपने साधारण अर्थ को छोड़कर विशेष अर्थ देते हैं, उन्हें </a:t>
            </a:r>
            <a:r>
              <a:rPr lang="en-US" sz="1500" b="1" dirty="0">
                <a:solidFill>
                  <a:srgbClr val="6D2E46"/>
                </a:solidFill>
              </a:rPr>
              <a:t>मुहावरे</a:t>
            </a:r>
            <a:r>
              <a:rPr lang="en-US" sz="1500" dirty="0">
                <a:solidFill>
                  <a:srgbClr val="1B1F5E"/>
                </a:solidFill>
              </a:rPr>
              <a:t> कहते हैं।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02996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0F5"/>
          </a:solidFill>
          <a:ln w="12700">
            <a:solidFill>
              <a:srgbClr val="E0A0BF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29768" y="212140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9768" y="2121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</a:rPr>
              <a:t>आँखें खुलना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5E"/>
                </a:solidFill>
              </a:rPr>
              <a:t>अर्थ: </a:t>
            </a:r>
            <a:r>
              <a:rPr lang="en-US" sz="1200" dirty="0">
                <a:solidFill>
                  <a:srgbClr val="555577"/>
                </a:solidFill>
              </a:rPr>
              <a:t>सच्चाई का पता चलना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5E"/>
                </a:solidFill>
              </a:rPr>
              <a:t>वाक्य: </a:t>
            </a:r>
            <a:r>
              <a:rPr lang="en-US" sz="1100" i="1" dirty="0">
                <a:solidFill>
                  <a:srgbClr val="666688"/>
                </a:solidFill>
              </a:rPr>
              <a:t>धोखा खाने के बाद उसकी आँखें खुलीं।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02996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0F5"/>
          </a:solidFill>
          <a:ln w="12700">
            <a:solidFill>
              <a:srgbClr val="E0A0BF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27448" y="212140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27448" y="2121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2103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</a:rPr>
              <a:t>नाक में दम करना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505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5E"/>
                </a:solidFill>
              </a:rPr>
              <a:t>अर्थ: </a:t>
            </a:r>
            <a:r>
              <a:rPr lang="en-US" sz="1200" dirty="0">
                <a:solidFill>
                  <a:srgbClr val="555577"/>
                </a:solidFill>
              </a:rPr>
              <a:t>बहुत तंग करना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5E"/>
                </a:solidFill>
              </a:rPr>
              <a:t>वाक्य: </a:t>
            </a:r>
            <a:r>
              <a:rPr lang="en-US" sz="1100" i="1" dirty="0">
                <a:solidFill>
                  <a:srgbClr val="666688"/>
                </a:solidFill>
              </a:rPr>
              <a:t>बच्चों ने नाक में दम कर दिया।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40156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0F5"/>
          </a:solidFill>
          <a:ln w="12700">
            <a:solidFill>
              <a:srgbClr val="E0A0BF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9768" y="349300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29768" y="3493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474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</a:rPr>
              <a:t>हाथ-पैर मारना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877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5E"/>
                </a:solidFill>
              </a:rPr>
              <a:t>अर्थ: </a:t>
            </a:r>
            <a:r>
              <a:rPr lang="en-US" sz="1200" dirty="0">
                <a:solidFill>
                  <a:srgbClr val="555577"/>
                </a:solidFill>
              </a:rPr>
              <a:t>बहुत कोशिश करना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5E"/>
                </a:solidFill>
              </a:rPr>
              <a:t>वाक्य: </a:t>
            </a:r>
            <a:r>
              <a:rPr lang="en-US" sz="1100" i="1" dirty="0">
                <a:solidFill>
                  <a:srgbClr val="666688"/>
                </a:solidFill>
              </a:rPr>
              <a:t>उसने नौकरी के लिए हाथ-पैर मारे।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40156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0F5"/>
          </a:solidFill>
          <a:ln w="12700">
            <a:solidFill>
              <a:srgbClr val="E0A0BF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27448" y="349300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27448" y="3493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3474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</a:rPr>
              <a:t>सिर पर सवार होना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3877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5E"/>
                </a:solidFill>
              </a:rPr>
              <a:t>अर्थ: </a:t>
            </a:r>
            <a:r>
              <a:rPr lang="en-US" sz="1200" dirty="0">
                <a:solidFill>
                  <a:srgbClr val="555577"/>
                </a:solidFill>
              </a:rPr>
              <a:t>पीछे पड़ना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5E"/>
                </a:solidFill>
              </a:rPr>
              <a:t>वाक्य: </a:t>
            </a:r>
            <a:r>
              <a:rPr lang="en-US" sz="1100" i="1" dirty="0">
                <a:solidFill>
                  <a:srgbClr val="666688"/>
                </a:solidFill>
              </a:rPr>
              <a:t>वह हमेशा मेरे सिर पर सवार रहता है।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लोकोक्तियाँ (कहावतें)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4A0B5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</a:rPr>
              <a:t>परिभाषा: </a:t>
            </a:r>
            <a:r>
              <a:rPr lang="en-US" sz="1500" dirty="0">
                <a:solidFill>
                  <a:srgbClr val="1B1F5E"/>
                </a:solidFill>
              </a:rPr>
              <a:t>लोक-जीवन से उत्पन्न, सार्वभौमिक अनुभव व्यक्त करने वाले पूर्ण वाक्यों को </a:t>
            </a:r>
            <a:r>
              <a:rPr lang="en-US" sz="1500" b="1" dirty="0">
                <a:solidFill>
                  <a:srgbClr val="6D2E46"/>
                </a:solidFill>
              </a:rPr>
              <a:t>लोकोक्तियाँ</a:t>
            </a:r>
            <a:r>
              <a:rPr lang="en-US" sz="1500" dirty="0">
                <a:solidFill>
                  <a:srgbClr val="1B1F5E"/>
                </a:solidFill>
              </a:rPr>
              <a:t> कहते हैं।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29968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0E0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</a:rPr>
              <a:t>मुहावरे vs लोकोक्ति: </a:t>
            </a:r>
            <a:r>
              <a:rPr lang="en-US" sz="1300" dirty="0">
                <a:solidFill>
                  <a:srgbClr val="555533"/>
                </a:solidFill>
              </a:rPr>
              <a:t>मुहावरा वाक्यांश होता है (वाक्य का अंग), जबकि लोकोक्ति स्वयं में पूर्ण वाक्य होती है।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24912"/>
            <a:ext cx="8412480" cy="512064"/>
          </a:xfrm>
          <a:prstGeom prst="roundRect">
            <a:avLst>
              <a:gd name="adj" fmla="val 14286"/>
            </a:avLst>
          </a:prstGeom>
          <a:solidFill>
            <a:srgbClr val="F8EEF3"/>
          </a:solidFill>
          <a:ln w="12700">
            <a:solidFill>
              <a:srgbClr val="E0A0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76148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अब पछताए होत क्या जब चिड़िया चुग गई खेत।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816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77"/>
                </a:solidFill>
              </a:rPr>
              <a:t>समय निकल जाने पर पछतावे से कुछ नहीं होता।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84124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A0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34670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अकेला चना भाड़ नहीं फोड़ सकता।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4015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77"/>
                </a:solidFill>
              </a:rPr>
              <a:t>अकेले व्यक्ति से बड़ा काम नहीं होता।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8412480" cy="512064"/>
          </a:xfrm>
          <a:prstGeom prst="roundRect">
            <a:avLst>
              <a:gd name="adj" fmla="val 14286"/>
            </a:avLst>
          </a:prstGeom>
          <a:solidFill>
            <a:srgbClr val="F8EEF3"/>
          </a:solidFill>
          <a:ln w="12700">
            <a:solidFill>
              <a:srgbClr val="E0A0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नाच न जाने आँगन टेढ़ा।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9867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77"/>
                </a:solidFill>
              </a:rPr>
              <a:t>काम न जानना और बहाने बनाना।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84124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A0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51713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जैसा बोओगे वैसा काटोगे।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5720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77"/>
                </a:solidFill>
              </a:rPr>
              <a:t>जैसे कर्म करोगे वैसा फल मिलेगा।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सारांश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Samarkan" panose="020B0500000000000000" pitchFamily="34" charset="0"/>
              </a:rPr>
              <a:t>Summary</a:t>
            </a:r>
            <a:endParaRPr lang="en-US" sz="1400" dirty="0">
              <a:latin typeface="Samarkan" panose="020B0500000000000000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2D327A"/>
          </a:solidFill>
          <a:ln w="12700">
            <a:solidFill>
              <a:srgbClr val="3D42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280160" y="1719072"/>
            <a:ext cx="0" cy="548640"/>
          </a:xfrm>
          <a:prstGeom prst="line">
            <a:avLst/>
          </a:prstGeom>
          <a:noFill/>
          <a:ln w="12700">
            <a:solidFill>
              <a:srgbClr val="5A5E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417320" y="1645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संज्ञा और उसके भेद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116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5 भेद: व्यक्तिवाचक, जातिवाचक, भाववाचक, समूहवाचक, द्रव्यवाचक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2D327A"/>
          </a:solidFill>
          <a:ln w="12700">
            <a:solidFill>
              <a:srgbClr val="3D42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280160" y="2724912"/>
            <a:ext cx="0" cy="548640"/>
          </a:xfrm>
          <a:prstGeom prst="line">
            <a:avLst/>
          </a:prstGeom>
          <a:noFill/>
          <a:ln w="12700">
            <a:solidFill>
              <a:srgbClr val="5A5E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41732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काल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3 भेद: भूतकाल, वर्तमान काल, भविष्य काल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2D327A"/>
          </a:solidFill>
          <a:ln w="12700">
            <a:solidFill>
              <a:srgbClr val="3D42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6576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280160" y="3730752"/>
            <a:ext cx="0" cy="548640"/>
          </a:xfrm>
          <a:prstGeom prst="line">
            <a:avLst/>
          </a:prstGeom>
          <a:noFill/>
          <a:ln w="12700">
            <a:solidFill>
              <a:srgbClr val="5A5E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417320" y="3657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मुहावरे एवं लोकोक्तियाँ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023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मुहावरा = वाक्यांश; लोकोक्ति = पूर्ण वाक्य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धन्यवाद! 🙏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491</Words>
  <Application>Microsoft Office PowerPoint</Application>
  <PresentationFormat>On-screen Show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Samarkan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व्याकरण ज्ञान पिटारा</dc:title>
  <dc:subject>PptxGenJS Presentation</dc:subject>
  <dc:creator>PptxGenJS</dc:creator>
  <cp:lastModifiedBy>Praveern Sharma</cp:lastModifiedBy>
  <cp:revision>2</cp:revision>
  <dcterms:created xsi:type="dcterms:W3CDTF">2026-06-15T08:27:43Z</dcterms:created>
  <dcterms:modified xsi:type="dcterms:W3CDTF">2026-06-15T09:35:08Z</dcterms:modified>
</cp:coreProperties>
</file>